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handoutMasterIdLst>
    <p:handoutMasterId r:id="rId8"/>
  </p:handoutMasterIdLst>
  <p:sldIdLst>
    <p:sldId id="258" r:id="rId2"/>
    <p:sldId id="271" r:id="rId3"/>
    <p:sldId id="272" r:id="rId4"/>
    <p:sldId id="273" r:id="rId5"/>
    <p:sldId id="274" r:id="rId6"/>
    <p:sldId id="275" r:id="rId7"/>
  </p:sldIdLst>
  <p:sldSz cx="9144000" cy="5715000" type="screen16x1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Estilo medio 3 - Énfasis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Estilo claro 2 - Acento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Estilo claro 3 - Acento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Estilo medio 1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65" autoAdjust="0"/>
    <p:restoredTop sz="94660"/>
  </p:normalViewPr>
  <p:slideViewPr>
    <p:cSldViewPr snapToGrid="0">
      <p:cViewPr varScale="1">
        <p:scale>
          <a:sx n="85" d="100"/>
          <a:sy n="85" d="100"/>
        </p:scale>
        <p:origin x="91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516570BF-31E6-455C-A07C-1B15514DACEA}" type="datetimeFigureOut">
              <a:rPr lang="es-EC" smtClean="0"/>
              <a:t>29/7/2026</a:t>
            </a:fld>
            <a:endParaRPr lang="es-EC"/>
          </a:p>
        </p:txBody>
      </p:sp>
      <p:sp>
        <p:nvSpPr>
          <p:cNvPr id="4" name="Marcador de pie de página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es-EC"/>
          </a:p>
        </p:txBody>
      </p:sp>
      <p:sp>
        <p:nvSpPr>
          <p:cNvPr id="5" name="Marcador de número de diapositiva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30DEFCEC-CC30-4725-AF43-E19C3076191A}" type="slidenum">
              <a:rPr lang="es-EC" smtClean="0"/>
              <a:t>‹Nº›</a:t>
            </a:fld>
            <a:endParaRPr lang="es-EC"/>
          </a:p>
        </p:txBody>
      </p:sp>
    </p:spTree>
    <p:extLst>
      <p:ext uri="{BB962C8B-B14F-4D97-AF65-F5344CB8AC3E}">
        <p14:creationId xmlns:p14="http://schemas.microsoft.com/office/powerpoint/2010/main" val="207949567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p:spPr>
        <p:txBody>
          <a:bodyPr anchor="b"/>
          <a:lstStyle>
            <a:lvl1pPr algn="ctr">
              <a:defRPr sz="45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635F0C9-7AE2-4DAC-AEE9-833519026088}" type="datetimeFigureOut">
              <a:rPr lang="es-EC" smtClean="0"/>
              <a:t>29/7/2026</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7F183039-EB13-444F-ADD4-4E7C8267275F}" type="slidenum">
              <a:rPr lang="es-EC" smtClean="0"/>
              <a:t>‹Nº›</a:t>
            </a:fld>
            <a:endParaRPr lang="es-EC"/>
          </a:p>
        </p:txBody>
      </p:sp>
    </p:spTree>
    <p:extLst>
      <p:ext uri="{BB962C8B-B14F-4D97-AF65-F5344CB8AC3E}">
        <p14:creationId xmlns:p14="http://schemas.microsoft.com/office/powerpoint/2010/main" val="1776570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635F0C9-7AE2-4DAC-AEE9-833519026088}" type="datetimeFigureOut">
              <a:rPr lang="es-EC" smtClean="0"/>
              <a:t>29/7/2026</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7F183039-EB13-444F-ADD4-4E7C8267275F}" type="slidenum">
              <a:rPr lang="es-EC" smtClean="0"/>
              <a:t>‹Nº›</a:t>
            </a:fld>
            <a:endParaRPr lang="es-EC"/>
          </a:p>
        </p:txBody>
      </p:sp>
    </p:spTree>
    <p:extLst>
      <p:ext uri="{BB962C8B-B14F-4D97-AF65-F5344CB8AC3E}">
        <p14:creationId xmlns:p14="http://schemas.microsoft.com/office/powerpoint/2010/main" val="2413596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2"/>
            <a:ext cx="7886700" cy="2377281"/>
          </a:xfrm>
        </p:spPr>
        <p:txBody>
          <a:bodyPr anchor="b"/>
          <a:lstStyle>
            <a:lvl1pPr>
              <a:defRPr sz="45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3824553"/>
            <a:ext cx="7886700" cy="125015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635F0C9-7AE2-4DAC-AEE9-833519026088}" type="datetimeFigureOut">
              <a:rPr lang="es-EC" smtClean="0"/>
              <a:t>29/7/2026</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7F183039-EB13-444F-ADD4-4E7C8267275F}" type="slidenum">
              <a:rPr lang="es-EC" smtClean="0"/>
              <a:t>‹Nº›</a:t>
            </a:fld>
            <a:endParaRPr lang="es-EC"/>
          </a:p>
        </p:txBody>
      </p:sp>
    </p:spTree>
    <p:extLst>
      <p:ext uri="{BB962C8B-B14F-4D97-AF65-F5344CB8AC3E}">
        <p14:creationId xmlns:p14="http://schemas.microsoft.com/office/powerpoint/2010/main" val="1750192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521354"/>
            <a:ext cx="3886200" cy="362611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0" y="1521354"/>
            <a:ext cx="3886200" cy="362611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635F0C9-7AE2-4DAC-AEE9-833519026088}" type="datetimeFigureOut">
              <a:rPr lang="es-EC" smtClean="0"/>
              <a:t>29/7/2026</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7F183039-EB13-444F-ADD4-4E7C8267275F}" type="slidenum">
              <a:rPr lang="es-EC" smtClean="0"/>
              <a:t>‹Nº›</a:t>
            </a:fld>
            <a:endParaRPr lang="es-EC"/>
          </a:p>
        </p:txBody>
      </p:sp>
    </p:spTree>
    <p:extLst>
      <p:ext uri="{BB962C8B-B14F-4D97-AF65-F5344CB8AC3E}">
        <p14:creationId xmlns:p14="http://schemas.microsoft.com/office/powerpoint/2010/main" val="601951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1"/>
            <a:ext cx="7886700" cy="1104636"/>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Content Placeholder 3"/>
          <p:cNvSpPr>
            <a:spLocks noGrp="1"/>
          </p:cNvSpPr>
          <p:nvPr>
            <p:ph sz="half" idx="2"/>
          </p:nvPr>
        </p:nvSpPr>
        <p:spPr>
          <a:xfrm>
            <a:off x="629842" y="2087563"/>
            <a:ext cx="3868340" cy="307049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50" y="2087563"/>
            <a:ext cx="3887391" cy="307049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635F0C9-7AE2-4DAC-AEE9-833519026088}" type="datetimeFigureOut">
              <a:rPr lang="es-EC" smtClean="0"/>
              <a:t>29/7/2026</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7F183039-EB13-444F-ADD4-4E7C8267275F}" type="slidenum">
              <a:rPr lang="es-EC" smtClean="0"/>
              <a:t>‹Nº›</a:t>
            </a:fld>
            <a:endParaRPr lang="es-EC"/>
          </a:p>
        </p:txBody>
      </p:sp>
    </p:spTree>
    <p:extLst>
      <p:ext uri="{BB962C8B-B14F-4D97-AF65-F5344CB8AC3E}">
        <p14:creationId xmlns:p14="http://schemas.microsoft.com/office/powerpoint/2010/main" val="3193833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635F0C9-7AE2-4DAC-AEE9-833519026088}" type="datetimeFigureOut">
              <a:rPr lang="es-EC" smtClean="0"/>
              <a:t>29/7/2026</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7F183039-EB13-444F-ADD4-4E7C8267275F}" type="slidenum">
              <a:rPr lang="es-EC" smtClean="0"/>
              <a:t>‹Nº›</a:t>
            </a:fld>
            <a:endParaRPr lang="es-EC"/>
          </a:p>
        </p:txBody>
      </p:sp>
    </p:spTree>
    <p:extLst>
      <p:ext uri="{BB962C8B-B14F-4D97-AF65-F5344CB8AC3E}">
        <p14:creationId xmlns:p14="http://schemas.microsoft.com/office/powerpoint/2010/main" val="2824820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35F0C9-7AE2-4DAC-AEE9-833519026088}" type="datetimeFigureOut">
              <a:rPr lang="es-EC" smtClean="0"/>
              <a:t>29/7/2026</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7F183039-EB13-444F-ADD4-4E7C8267275F}" type="slidenum">
              <a:rPr lang="es-EC" smtClean="0"/>
              <a:t>‹Nº›</a:t>
            </a:fld>
            <a:endParaRPr lang="es-EC"/>
          </a:p>
        </p:txBody>
      </p:sp>
    </p:spTree>
    <p:extLst>
      <p:ext uri="{BB962C8B-B14F-4D97-AF65-F5344CB8AC3E}">
        <p14:creationId xmlns:p14="http://schemas.microsoft.com/office/powerpoint/2010/main" val="2030372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635F0C9-7AE2-4DAC-AEE9-833519026088}" type="datetimeFigureOut">
              <a:rPr lang="es-EC" smtClean="0"/>
              <a:t>29/7/2026</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7F183039-EB13-444F-ADD4-4E7C8267275F}" type="slidenum">
              <a:rPr lang="es-EC" smtClean="0"/>
              <a:t>‹Nº›</a:t>
            </a:fld>
            <a:endParaRPr lang="es-EC"/>
          </a:p>
        </p:txBody>
      </p:sp>
    </p:spTree>
    <p:extLst>
      <p:ext uri="{BB962C8B-B14F-4D97-AF65-F5344CB8AC3E}">
        <p14:creationId xmlns:p14="http://schemas.microsoft.com/office/powerpoint/2010/main" val="190563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822855"/>
            <a:ext cx="4629150" cy="406135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635F0C9-7AE2-4DAC-AEE9-833519026088}" type="datetimeFigureOut">
              <a:rPr lang="es-EC" smtClean="0"/>
              <a:t>29/7/2026</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7F183039-EB13-444F-ADD4-4E7C8267275F}" type="slidenum">
              <a:rPr lang="es-EC" smtClean="0"/>
              <a:t>‹Nº›</a:t>
            </a:fld>
            <a:endParaRPr lang="es-EC"/>
          </a:p>
        </p:txBody>
      </p:sp>
    </p:spTree>
    <p:extLst>
      <p:ext uri="{BB962C8B-B14F-4D97-AF65-F5344CB8AC3E}">
        <p14:creationId xmlns:p14="http://schemas.microsoft.com/office/powerpoint/2010/main" val="4095097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635F0C9-7AE2-4DAC-AEE9-833519026088}" type="datetimeFigureOut">
              <a:rPr lang="es-EC" smtClean="0"/>
              <a:t>29/7/2026</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7F183039-EB13-444F-ADD4-4E7C8267275F}" type="slidenum">
              <a:rPr lang="es-EC" smtClean="0"/>
              <a:t>‹Nº›</a:t>
            </a:fld>
            <a:endParaRPr lang="es-EC"/>
          </a:p>
        </p:txBody>
      </p:sp>
    </p:spTree>
    <p:extLst>
      <p:ext uri="{BB962C8B-B14F-4D97-AF65-F5344CB8AC3E}">
        <p14:creationId xmlns:p14="http://schemas.microsoft.com/office/powerpoint/2010/main" val="786732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04271"/>
            <a:ext cx="1971675" cy="48431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04271"/>
            <a:ext cx="5800725" cy="484319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635F0C9-7AE2-4DAC-AEE9-833519026088}" type="datetimeFigureOut">
              <a:rPr lang="es-EC" smtClean="0"/>
              <a:t>29/7/2026</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7F183039-EB13-444F-ADD4-4E7C8267275F}" type="slidenum">
              <a:rPr lang="es-EC" smtClean="0"/>
              <a:t>‹Nº›</a:t>
            </a:fld>
            <a:endParaRPr lang="es-EC"/>
          </a:p>
        </p:txBody>
      </p:sp>
    </p:spTree>
    <p:extLst>
      <p:ext uri="{BB962C8B-B14F-4D97-AF65-F5344CB8AC3E}">
        <p14:creationId xmlns:p14="http://schemas.microsoft.com/office/powerpoint/2010/main" val="3905148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75000"/>
                  </a:schemeClr>
                </a:solidFill>
              </a:defRPr>
            </a:lvl1pPr>
          </a:lstStyle>
          <a:p>
            <a:fld id="{4635F0C9-7AE2-4DAC-AEE9-833519026088}" type="datetimeFigureOut">
              <a:rPr lang="es-EC" smtClean="0"/>
              <a:t>29/7/2026</a:t>
            </a:fld>
            <a:endParaRPr lang="es-EC"/>
          </a:p>
        </p:txBody>
      </p:sp>
      <p:sp>
        <p:nvSpPr>
          <p:cNvPr id="5" name="Footer Placeholder 4"/>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EC"/>
          </a:p>
        </p:txBody>
      </p:sp>
      <p:sp>
        <p:nvSpPr>
          <p:cNvPr id="6" name="Slide Number Placeholder 5"/>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75000"/>
                  </a:schemeClr>
                </a:solidFill>
              </a:defRPr>
            </a:lvl1pPr>
          </a:lstStyle>
          <a:p>
            <a:fld id="{7F183039-EB13-444F-ADD4-4E7C8267275F}" type="slidenum">
              <a:rPr lang="es-EC" smtClean="0"/>
              <a:t>‹Nº›</a:t>
            </a:fld>
            <a:endParaRPr lang="es-EC"/>
          </a:p>
        </p:txBody>
      </p:sp>
    </p:spTree>
    <p:extLst>
      <p:ext uri="{BB962C8B-B14F-4D97-AF65-F5344CB8AC3E}">
        <p14:creationId xmlns:p14="http://schemas.microsoft.com/office/powerpoint/2010/main" val="299112737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410703C-6B69-CBC6-AFD0-883E183BA476}"/>
              </a:ext>
            </a:extLst>
          </p:cNvPr>
          <p:cNvSpPr txBox="1"/>
          <p:nvPr/>
        </p:nvSpPr>
        <p:spPr>
          <a:xfrm>
            <a:off x="367159" y="1090661"/>
            <a:ext cx="7848600" cy="2800767"/>
          </a:xfrm>
          <a:prstGeom prst="rect">
            <a:avLst/>
          </a:prstGeom>
          <a:noFill/>
        </p:spPr>
        <p:txBody>
          <a:bodyPr wrap="square">
            <a:spAutoFit/>
          </a:bodyPr>
          <a:lstStyle/>
          <a:p>
            <a:pPr algn="ctr"/>
            <a:r>
              <a:rPr lang="es-EC" sz="4800" b="1" spc="50" dirty="0">
                <a:ln w="0"/>
                <a:effectLst>
                  <a:innerShdw blurRad="63500" dist="50800" dir="13500000">
                    <a:srgbClr val="000000">
                      <a:alpha val="50000"/>
                    </a:srgbClr>
                  </a:innerShdw>
                </a:effectLst>
              </a:rPr>
              <a:t>SOCIALIZACIÓN ÁREA DE CRÉDITO</a:t>
            </a:r>
          </a:p>
          <a:p>
            <a:pPr algn="ctr"/>
            <a:endParaRPr lang="es-EC" sz="4800" b="1" spc="50" dirty="0">
              <a:ln w="0"/>
              <a:effectLst>
                <a:innerShdw blurRad="63500" dist="50800" dir="13500000">
                  <a:srgbClr val="000000">
                    <a:alpha val="50000"/>
                  </a:srgbClr>
                </a:innerShdw>
              </a:effectLst>
            </a:endParaRPr>
          </a:p>
          <a:p>
            <a:pPr algn="ctr"/>
            <a:r>
              <a:rPr lang="es-EC" sz="3200" b="1" spc="50" dirty="0">
                <a:ln w="0"/>
                <a:effectLst>
                  <a:innerShdw blurRad="63500" dist="50800" dir="13500000">
                    <a:srgbClr val="000000">
                      <a:alpha val="50000"/>
                    </a:srgbClr>
                  </a:innerShdw>
                </a:effectLst>
              </a:rPr>
              <a:t>POLÍTICAS A APLICAR</a:t>
            </a:r>
          </a:p>
        </p:txBody>
      </p:sp>
      <p:sp>
        <p:nvSpPr>
          <p:cNvPr id="4" name="CuadroTexto 3">
            <a:extLst>
              <a:ext uri="{FF2B5EF4-FFF2-40B4-BE49-F238E27FC236}">
                <a16:creationId xmlns:a16="http://schemas.microsoft.com/office/drawing/2014/main" id="{047F598D-91D7-1DEC-B261-CDE7562F7711}"/>
              </a:ext>
            </a:extLst>
          </p:cNvPr>
          <p:cNvSpPr txBox="1"/>
          <p:nvPr/>
        </p:nvSpPr>
        <p:spPr>
          <a:xfrm>
            <a:off x="6509576" y="5161159"/>
            <a:ext cx="3755136" cy="276999"/>
          </a:xfrm>
          <a:prstGeom prst="rect">
            <a:avLst/>
          </a:prstGeom>
          <a:noFill/>
        </p:spPr>
        <p:txBody>
          <a:bodyPr wrap="square" rtlCol="0">
            <a:spAutoFit/>
          </a:bodyPr>
          <a:lstStyle/>
          <a:p>
            <a:r>
              <a:rPr lang="es-EC" sz="1200" dirty="0">
                <a:solidFill>
                  <a:schemeClr val="accent1">
                    <a:lumMod val="75000"/>
                  </a:schemeClr>
                </a:solidFill>
                <a:latin typeface="Aptos Narrow" panose="020B0004020202020204" pitchFamily="34" charset="0"/>
              </a:rPr>
              <a:t>Departamento de Negoci</a:t>
            </a:r>
            <a:r>
              <a:rPr lang="es-EC" sz="1200" i="1" dirty="0">
                <a:solidFill>
                  <a:schemeClr val="accent1">
                    <a:lumMod val="75000"/>
                  </a:schemeClr>
                </a:solidFill>
                <a:latin typeface="Aptos Narrow" panose="020B0004020202020204" pitchFamily="34" charset="0"/>
              </a:rPr>
              <a:t>o</a:t>
            </a:r>
            <a:r>
              <a:rPr lang="es-EC" sz="1200" dirty="0">
                <a:solidFill>
                  <a:schemeClr val="accent1">
                    <a:lumMod val="75000"/>
                  </a:schemeClr>
                </a:solidFill>
                <a:latin typeface="Aptos Narrow" panose="020B0004020202020204" pitchFamily="34" charset="0"/>
              </a:rPr>
              <a:t>s </a:t>
            </a:r>
          </a:p>
        </p:txBody>
      </p:sp>
    </p:spTree>
    <p:extLst>
      <p:ext uri="{BB962C8B-B14F-4D97-AF65-F5344CB8AC3E}">
        <p14:creationId xmlns:p14="http://schemas.microsoft.com/office/powerpoint/2010/main" val="1081934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E193B82-BDDF-2D2A-A530-1AE052FC3D97}"/>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89ED116F-F242-68DD-EC71-D790CDFE476D}"/>
              </a:ext>
            </a:extLst>
          </p:cNvPr>
          <p:cNvSpPr txBox="1"/>
          <p:nvPr/>
        </p:nvSpPr>
        <p:spPr>
          <a:xfrm>
            <a:off x="6204776" y="5354237"/>
            <a:ext cx="2158936" cy="276999"/>
          </a:xfrm>
          <a:prstGeom prst="rect">
            <a:avLst/>
          </a:prstGeom>
          <a:noFill/>
        </p:spPr>
        <p:txBody>
          <a:bodyPr wrap="square" rtlCol="0">
            <a:spAutoFit/>
          </a:bodyPr>
          <a:lstStyle/>
          <a:p>
            <a:r>
              <a:rPr lang="es-EC" sz="1200" dirty="0">
                <a:solidFill>
                  <a:schemeClr val="accent1">
                    <a:lumMod val="75000"/>
                  </a:schemeClr>
                </a:solidFill>
                <a:latin typeface="Aptos Narrow" panose="020B0004020202020204" pitchFamily="34" charset="0"/>
              </a:rPr>
              <a:t>Departamento de Negocios </a:t>
            </a:r>
          </a:p>
        </p:txBody>
      </p:sp>
      <p:sp>
        <p:nvSpPr>
          <p:cNvPr id="2" name="CuadroTexto 1">
            <a:extLst>
              <a:ext uri="{FF2B5EF4-FFF2-40B4-BE49-F238E27FC236}">
                <a16:creationId xmlns:a16="http://schemas.microsoft.com/office/drawing/2014/main" id="{2C2A5C90-0A80-9D2A-5E24-1109D630FC9A}"/>
              </a:ext>
            </a:extLst>
          </p:cNvPr>
          <p:cNvSpPr txBox="1"/>
          <p:nvPr/>
        </p:nvSpPr>
        <p:spPr>
          <a:xfrm>
            <a:off x="494675" y="613600"/>
            <a:ext cx="7641861" cy="3970318"/>
          </a:xfrm>
          <a:prstGeom prst="rect">
            <a:avLst/>
          </a:prstGeom>
          <a:noFill/>
        </p:spPr>
        <p:txBody>
          <a:bodyPr wrap="square">
            <a:spAutoFit/>
          </a:bodyPr>
          <a:lstStyle/>
          <a:p>
            <a:pPr algn="just"/>
            <a:r>
              <a:rPr lang="es-EC" sz="2800" b="1" spc="50" dirty="0">
                <a:ln w="0"/>
                <a:effectLst>
                  <a:innerShdw blurRad="63500" dist="50800" dir="13500000">
                    <a:srgbClr val="000000">
                      <a:alpha val="50000"/>
                    </a:srgbClr>
                  </a:innerShdw>
                </a:effectLst>
              </a:rPr>
              <a:t>Todas las operaciones de crédito, bajo el producto NOVADO, REFINANCIADO, REESTRUCTURADO, deberá contener todos los documentos de soporte (como en el caso de las operaciones originales), en cuanto a los justificativos de Capacidad de Pago, como de Patrimonio. Debiéndose realizar el levantamiento de su nueva capacidad de pago y considerando el Endeudamiento actual. </a:t>
            </a:r>
          </a:p>
        </p:txBody>
      </p:sp>
      <p:sp>
        <p:nvSpPr>
          <p:cNvPr id="3" name="CuadroTexto 2">
            <a:extLst>
              <a:ext uri="{FF2B5EF4-FFF2-40B4-BE49-F238E27FC236}">
                <a16:creationId xmlns:a16="http://schemas.microsoft.com/office/drawing/2014/main" id="{3C4B27F7-DB86-8C30-A438-A0F5AC1A31B8}"/>
              </a:ext>
            </a:extLst>
          </p:cNvPr>
          <p:cNvSpPr txBox="1"/>
          <p:nvPr/>
        </p:nvSpPr>
        <p:spPr>
          <a:xfrm>
            <a:off x="6123482" y="4583918"/>
            <a:ext cx="2525843" cy="646331"/>
          </a:xfrm>
          <a:prstGeom prst="rect">
            <a:avLst/>
          </a:prstGeom>
          <a:noFill/>
        </p:spPr>
        <p:txBody>
          <a:bodyPr wrap="square" rtlCol="0">
            <a:spAutoFit/>
          </a:bodyPr>
          <a:lstStyle/>
          <a:p>
            <a:r>
              <a:rPr lang="es-EC" dirty="0"/>
              <a:t>IF-CPMV-AI-</a:t>
            </a:r>
            <a:r>
              <a:rPr lang="es-EC" dirty="0" err="1"/>
              <a:t>N°</a:t>
            </a:r>
            <a:r>
              <a:rPr lang="es-EC" dirty="0"/>
              <a:t> 025-2026</a:t>
            </a:r>
          </a:p>
          <a:p>
            <a:r>
              <a:rPr lang="es-EC" dirty="0"/>
              <a:t>IF-CPMV-AI-N°106-2026</a:t>
            </a:r>
          </a:p>
        </p:txBody>
      </p:sp>
    </p:spTree>
    <p:extLst>
      <p:ext uri="{BB962C8B-B14F-4D97-AF65-F5344CB8AC3E}">
        <p14:creationId xmlns:p14="http://schemas.microsoft.com/office/powerpoint/2010/main" val="3844415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99B77A0-C691-E227-6F82-9BFA816D2764}"/>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F8CF4CD9-34C6-C9B3-1B48-C36E3162B8B3}"/>
              </a:ext>
            </a:extLst>
          </p:cNvPr>
          <p:cNvSpPr txBox="1"/>
          <p:nvPr/>
        </p:nvSpPr>
        <p:spPr>
          <a:xfrm>
            <a:off x="6204776" y="5354237"/>
            <a:ext cx="2158936" cy="276999"/>
          </a:xfrm>
          <a:prstGeom prst="rect">
            <a:avLst/>
          </a:prstGeom>
          <a:noFill/>
        </p:spPr>
        <p:txBody>
          <a:bodyPr wrap="square" rtlCol="0">
            <a:spAutoFit/>
          </a:bodyPr>
          <a:lstStyle/>
          <a:p>
            <a:r>
              <a:rPr lang="es-EC" sz="1200" dirty="0">
                <a:solidFill>
                  <a:schemeClr val="accent1">
                    <a:lumMod val="75000"/>
                  </a:schemeClr>
                </a:solidFill>
                <a:latin typeface="Aptos Narrow" panose="020B0004020202020204" pitchFamily="34" charset="0"/>
              </a:rPr>
              <a:t>Departamento de Negocios </a:t>
            </a:r>
          </a:p>
        </p:txBody>
      </p:sp>
      <p:sp>
        <p:nvSpPr>
          <p:cNvPr id="2" name="CuadroTexto 1">
            <a:extLst>
              <a:ext uri="{FF2B5EF4-FFF2-40B4-BE49-F238E27FC236}">
                <a16:creationId xmlns:a16="http://schemas.microsoft.com/office/drawing/2014/main" id="{4A8B72E8-E801-1012-B2E4-AC0B785346C6}"/>
              </a:ext>
            </a:extLst>
          </p:cNvPr>
          <p:cNvSpPr txBox="1"/>
          <p:nvPr/>
        </p:nvSpPr>
        <p:spPr>
          <a:xfrm>
            <a:off x="400755" y="866078"/>
            <a:ext cx="8342488" cy="3323987"/>
          </a:xfrm>
          <a:prstGeom prst="rect">
            <a:avLst/>
          </a:prstGeom>
          <a:noFill/>
        </p:spPr>
        <p:txBody>
          <a:bodyPr wrap="square">
            <a:spAutoFit/>
          </a:bodyPr>
          <a:lstStyle/>
          <a:p>
            <a:pPr algn="just"/>
            <a:r>
              <a:rPr lang="es-EC" b="1" spc="50" dirty="0">
                <a:ln w="0"/>
                <a:effectLst>
                  <a:innerShdw blurRad="63500" dist="50800" dir="13500000">
                    <a:srgbClr val="000000">
                      <a:alpha val="50000"/>
                    </a:srgbClr>
                  </a:innerShdw>
                </a:effectLst>
              </a:rPr>
              <a:t>Resolución </a:t>
            </a:r>
            <a:r>
              <a:rPr lang="es-EC" b="1" spc="50" dirty="0" err="1">
                <a:ln w="0"/>
                <a:effectLst>
                  <a:innerShdw blurRad="63500" dist="50800" dir="13500000">
                    <a:srgbClr val="000000">
                      <a:alpha val="50000"/>
                    </a:srgbClr>
                  </a:innerShdw>
                </a:effectLst>
              </a:rPr>
              <a:t>N°</a:t>
            </a:r>
            <a:r>
              <a:rPr lang="es-EC" b="1" spc="50" dirty="0">
                <a:ln w="0"/>
                <a:effectLst>
                  <a:innerShdw blurRad="63500" dist="50800" dir="13500000">
                    <a:srgbClr val="000000">
                      <a:alpha val="50000"/>
                    </a:srgbClr>
                  </a:innerShdw>
                </a:effectLst>
              </a:rPr>
              <a:t> 133-2015-M de la Junta de Política y Regulación Monetaria y Financiera. </a:t>
            </a:r>
          </a:p>
          <a:p>
            <a:pPr algn="just"/>
            <a:r>
              <a:rPr lang="es-EC" b="1" spc="50" dirty="0">
                <a:ln w="0"/>
                <a:effectLst>
                  <a:innerShdw blurRad="63500" dist="50800" dir="13500000">
                    <a:srgbClr val="000000">
                      <a:alpha val="50000"/>
                    </a:srgbClr>
                  </a:innerShdw>
                </a:effectLst>
              </a:rPr>
              <a:t>Art. 31.-</a:t>
            </a:r>
          </a:p>
          <a:p>
            <a:pPr algn="just"/>
            <a:r>
              <a:rPr lang="es-ES" sz="1600" spc="50" dirty="0">
                <a:ln w="0"/>
                <a:effectLst>
                  <a:innerShdw blurRad="63500" dist="50800" dir="13500000">
                    <a:srgbClr val="000000">
                      <a:alpha val="50000"/>
                    </a:srgbClr>
                  </a:innerShdw>
                </a:effectLst>
              </a:rPr>
              <a:t>Las operaciones de crédito de las entidades financieras que incurran en mora, se liquidarán a la tasa de mora que corresponda, únicamente por el monto vencido del capital, sea en operaciones a vencimiento o en las que se amortizan por dividendos, y solo desde la fecha de no pago hasta la fecha del día en que se efectúe el pago de la obligación. Esta tasa será la que resulte de aplicar un recargo de hasta el 10% (0.1 veces) a la tasa que se encuentre vigente para la operación al momento de ocurrir la mora, según el número de días que hayan transcurrido desde la fecha de vencimiento hasta el pago de la misma, en función de la siguiente tabla:</a:t>
            </a:r>
          </a:p>
          <a:p>
            <a:pPr algn="just"/>
            <a:endParaRPr lang="es-ES" sz="1400" b="1" spc="50" dirty="0">
              <a:ln w="0"/>
              <a:effectLst>
                <a:innerShdw blurRad="63500" dist="50800" dir="13500000">
                  <a:srgbClr val="000000">
                    <a:alpha val="50000"/>
                  </a:srgbClr>
                </a:innerShdw>
              </a:effectLst>
            </a:endParaRPr>
          </a:p>
          <a:p>
            <a:pPr algn="just"/>
            <a:endParaRPr lang="es-EC" sz="1400" b="1" spc="50" dirty="0">
              <a:ln w="0"/>
              <a:effectLst>
                <a:innerShdw blurRad="63500" dist="50800" dir="13500000">
                  <a:srgbClr val="000000">
                    <a:alpha val="50000"/>
                  </a:srgbClr>
                </a:innerShdw>
              </a:effectLst>
            </a:endParaRPr>
          </a:p>
        </p:txBody>
      </p:sp>
      <p:sp>
        <p:nvSpPr>
          <p:cNvPr id="3" name="CuadroTexto 2">
            <a:extLst>
              <a:ext uri="{FF2B5EF4-FFF2-40B4-BE49-F238E27FC236}">
                <a16:creationId xmlns:a16="http://schemas.microsoft.com/office/drawing/2014/main" id="{3DE385FE-DE8D-90EE-4FD7-85F50C751E0B}"/>
              </a:ext>
            </a:extLst>
          </p:cNvPr>
          <p:cNvSpPr txBox="1"/>
          <p:nvPr/>
        </p:nvSpPr>
        <p:spPr>
          <a:xfrm>
            <a:off x="6204776" y="4950874"/>
            <a:ext cx="2525843" cy="369332"/>
          </a:xfrm>
          <a:prstGeom prst="rect">
            <a:avLst/>
          </a:prstGeom>
          <a:noFill/>
        </p:spPr>
        <p:txBody>
          <a:bodyPr wrap="square" rtlCol="0">
            <a:spAutoFit/>
          </a:bodyPr>
          <a:lstStyle/>
          <a:p>
            <a:r>
              <a:rPr lang="es-EC" dirty="0"/>
              <a:t>IF-CPMV-AI-</a:t>
            </a:r>
            <a:r>
              <a:rPr lang="es-EC" dirty="0" err="1"/>
              <a:t>N°</a:t>
            </a:r>
            <a:r>
              <a:rPr lang="es-EC" dirty="0"/>
              <a:t> 025-2026</a:t>
            </a:r>
          </a:p>
        </p:txBody>
      </p:sp>
      <p:pic>
        <p:nvPicPr>
          <p:cNvPr id="6" name="Imagen 5">
            <a:extLst>
              <a:ext uri="{FF2B5EF4-FFF2-40B4-BE49-F238E27FC236}">
                <a16:creationId xmlns:a16="http://schemas.microsoft.com/office/drawing/2014/main" id="{3614B87D-EEBE-A2EB-5EF1-F74ED416D2DB}"/>
              </a:ext>
            </a:extLst>
          </p:cNvPr>
          <p:cNvPicPr>
            <a:picLocks noChangeAspect="1"/>
          </p:cNvPicPr>
          <p:nvPr/>
        </p:nvPicPr>
        <p:blipFill>
          <a:blip r:embed="rId3"/>
          <a:stretch>
            <a:fillRect/>
          </a:stretch>
        </p:blipFill>
        <p:spPr>
          <a:xfrm>
            <a:off x="2561741" y="3586234"/>
            <a:ext cx="3070668" cy="1474328"/>
          </a:xfrm>
          <a:prstGeom prst="rect">
            <a:avLst/>
          </a:prstGeom>
        </p:spPr>
      </p:pic>
      <p:sp>
        <p:nvSpPr>
          <p:cNvPr id="7" name="CuadroTexto 6">
            <a:extLst>
              <a:ext uri="{FF2B5EF4-FFF2-40B4-BE49-F238E27FC236}">
                <a16:creationId xmlns:a16="http://schemas.microsoft.com/office/drawing/2014/main" id="{58000C54-CEAC-92BE-70A1-18353AD284D4}"/>
              </a:ext>
            </a:extLst>
          </p:cNvPr>
          <p:cNvSpPr txBox="1"/>
          <p:nvPr/>
        </p:nvSpPr>
        <p:spPr>
          <a:xfrm>
            <a:off x="2452903" y="5082235"/>
            <a:ext cx="3465689" cy="369332"/>
          </a:xfrm>
          <a:prstGeom prst="rect">
            <a:avLst/>
          </a:prstGeom>
          <a:noFill/>
        </p:spPr>
        <p:txBody>
          <a:bodyPr wrap="square" rtlCol="0">
            <a:spAutoFit/>
          </a:bodyPr>
          <a:lstStyle/>
          <a:p>
            <a:r>
              <a:rPr lang="es-EC" dirty="0"/>
              <a:t>(K*%recargo)/360*</a:t>
            </a:r>
            <a:r>
              <a:rPr lang="es-EC" dirty="0" err="1"/>
              <a:t>DíasAtraso</a:t>
            </a:r>
            <a:endParaRPr lang="es-EC" dirty="0"/>
          </a:p>
        </p:txBody>
      </p:sp>
    </p:spTree>
    <p:extLst>
      <p:ext uri="{BB962C8B-B14F-4D97-AF65-F5344CB8AC3E}">
        <p14:creationId xmlns:p14="http://schemas.microsoft.com/office/powerpoint/2010/main" val="424668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1DED236-A422-2F2E-DE21-E83321BB6EE3}"/>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BCC10619-4FFE-04CF-1823-903003576990}"/>
              </a:ext>
            </a:extLst>
          </p:cNvPr>
          <p:cNvSpPr txBox="1"/>
          <p:nvPr/>
        </p:nvSpPr>
        <p:spPr>
          <a:xfrm>
            <a:off x="6204776" y="5354237"/>
            <a:ext cx="2158936" cy="276999"/>
          </a:xfrm>
          <a:prstGeom prst="rect">
            <a:avLst/>
          </a:prstGeom>
          <a:noFill/>
        </p:spPr>
        <p:txBody>
          <a:bodyPr wrap="square" rtlCol="0">
            <a:spAutoFit/>
          </a:bodyPr>
          <a:lstStyle/>
          <a:p>
            <a:r>
              <a:rPr lang="es-EC" sz="1200" dirty="0">
                <a:solidFill>
                  <a:schemeClr val="accent1">
                    <a:lumMod val="75000"/>
                  </a:schemeClr>
                </a:solidFill>
                <a:latin typeface="Aptos Narrow" panose="020B0004020202020204" pitchFamily="34" charset="0"/>
              </a:rPr>
              <a:t>Departamento de Negocios </a:t>
            </a:r>
          </a:p>
        </p:txBody>
      </p:sp>
      <p:sp>
        <p:nvSpPr>
          <p:cNvPr id="2" name="CuadroTexto 1">
            <a:extLst>
              <a:ext uri="{FF2B5EF4-FFF2-40B4-BE49-F238E27FC236}">
                <a16:creationId xmlns:a16="http://schemas.microsoft.com/office/drawing/2014/main" id="{090DAFCE-0195-02D1-7A4D-7990B583D096}"/>
              </a:ext>
            </a:extLst>
          </p:cNvPr>
          <p:cNvSpPr txBox="1"/>
          <p:nvPr/>
        </p:nvSpPr>
        <p:spPr>
          <a:xfrm>
            <a:off x="632710" y="1012834"/>
            <a:ext cx="7641861" cy="3539430"/>
          </a:xfrm>
          <a:prstGeom prst="rect">
            <a:avLst/>
          </a:prstGeom>
          <a:noFill/>
        </p:spPr>
        <p:txBody>
          <a:bodyPr wrap="square">
            <a:spAutoFit/>
          </a:bodyPr>
          <a:lstStyle/>
          <a:p>
            <a:pPr algn="just"/>
            <a:r>
              <a:rPr lang="es-EC" sz="3200" b="1" spc="50" dirty="0">
                <a:ln w="0"/>
                <a:effectLst>
                  <a:innerShdw blurRad="63500" dist="50800" dir="13500000">
                    <a:srgbClr val="000000">
                      <a:alpha val="50000"/>
                    </a:srgbClr>
                  </a:innerShdw>
                </a:effectLst>
              </a:rPr>
              <a:t>Todas las operaciones de crédito, deben contar con la cobertura de garantía, misma que no debe ser inferior a la del monto solicitado. En caso de Novaciones, Refinanciamientos y Reestructuraciones, no debe haber desmejorado, respecto a la operación original. </a:t>
            </a:r>
          </a:p>
        </p:txBody>
      </p:sp>
      <p:sp>
        <p:nvSpPr>
          <p:cNvPr id="3" name="CuadroTexto 2">
            <a:extLst>
              <a:ext uri="{FF2B5EF4-FFF2-40B4-BE49-F238E27FC236}">
                <a16:creationId xmlns:a16="http://schemas.microsoft.com/office/drawing/2014/main" id="{EFD782A5-46A8-ECB8-350C-605C606C916F}"/>
              </a:ext>
            </a:extLst>
          </p:cNvPr>
          <p:cNvSpPr txBox="1"/>
          <p:nvPr/>
        </p:nvSpPr>
        <p:spPr>
          <a:xfrm>
            <a:off x="6123482" y="4583918"/>
            <a:ext cx="2525843" cy="369332"/>
          </a:xfrm>
          <a:prstGeom prst="rect">
            <a:avLst/>
          </a:prstGeom>
          <a:noFill/>
        </p:spPr>
        <p:txBody>
          <a:bodyPr wrap="square" rtlCol="0">
            <a:spAutoFit/>
          </a:bodyPr>
          <a:lstStyle/>
          <a:p>
            <a:r>
              <a:rPr lang="es-EC" dirty="0"/>
              <a:t>IF-CPMV-AI-</a:t>
            </a:r>
            <a:r>
              <a:rPr lang="es-EC" dirty="0" err="1"/>
              <a:t>N°</a:t>
            </a:r>
            <a:r>
              <a:rPr lang="es-EC" dirty="0"/>
              <a:t> 025-2026</a:t>
            </a:r>
          </a:p>
        </p:txBody>
      </p:sp>
    </p:spTree>
    <p:extLst>
      <p:ext uri="{BB962C8B-B14F-4D97-AF65-F5344CB8AC3E}">
        <p14:creationId xmlns:p14="http://schemas.microsoft.com/office/powerpoint/2010/main" val="785788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F8BEE75-12A1-6067-6358-701A93FA3FEB}"/>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125C21B4-FEBB-8673-8851-5745C4433036}"/>
              </a:ext>
            </a:extLst>
          </p:cNvPr>
          <p:cNvSpPr txBox="1"/>
          <p:nvPr/>
        </p:nvSpPr>
        <p:spPr>
          <a:xfrm>
            <a:off x="6204776" y="5354237"/>
            <a:ext cx="2158936" cy="276999"/>
          </a:xfrm>
          <a:prstGeom prst="rect">
            <a:avLst/>
          </a:prstGeom>
          <a:noFill/>
        </p:spPr>
        <p:txBody>
          <a:bodyPr wrap="square" rtlCol="0">
            <a:spAutoFit/>
          </a:bodyPr>
          <a:lstStyle/>
          <a:p>
            <a:r>
              <a:rPr lang="es-EC" sz="1200" dirty="0">
                <a:solidFill>
                  <a:schemeClr val="accent1">
                    <a:lumMod val="75000"/>
                  </a:schemeClr>
                </a:solidFill>
                <a:latin typeface="Aptos Narrow" panose="020B0004020202020204" pitchFamily="34" charset="0"/>
              </a:rPr>
              <a:t>Departamento de Negocios </a:t>
            </a:r>
          </a:p>
        </p:txBody>
      </p:sp>
      <p:sp>
        <p:nvSpPr>
          <p:cNvPr id="2" name="CuadroTexto 1">
            <a:extLst>
              <a:ext uri="{FF2B5EF4-FFF2-40B4-BE49-F238E27FC236}">
                <a16:creationId xmlns:a16="http://schemas.microsoft.com/office/drawing/2014/main" id="{8F54D806-4F9A-69F1-C740-63698333C845}"/>
              </a:ext>
            </a:extLst>
          </p:cNvPr>
          <p:cNvSpPr txBox="1"/>
          <p:nvPr/>
        </p:nvSpPr>
        <p:spPr>
          <a:xfrm>
            <a:off x="395644" y="1118562"/>
            <a:ext cx="7641861" cy="3908762"/>
          </a:xfrm>
          <a:prstGeom prst="rect">
            <a:avLst/>
          </a:prstGeom>
          <a:noFill/>
        </p:spPr>
        <p:txBody>
          <a:bodyPr wrap="square">
            <a:spAutoFit/>
          </a:bodyPr>
          <a:lstStyle/>
          <a:p>
            <a:pPr algn="just"/>
            <a:r>
              <a:rPr lang="es-EC" sz="2800" b="1" spc="50" dirty="0">
                <a:ln w="0"/>
                <a:effectLst>
                  <a:innerShdw blurRad="63500" dist="50800" dir="13500000">
                    <a:srgbClr val="000000">
                      <a:alpha val="50000"/>
                    </a:srgbClr>
                  </a:innerShdw>
                </a:effectLst>
              </a:rPr>
              <a:t>Análisis de las operaciones de crédito en Comité de Oficina. Revisar requisitos y Análisis de Levantamiento de Información</a:t>
            </a:r>
          </a:p>
          <a:p>
            <a:pPr algn="just"/>
            <a:endParaRPr lang="es-EC" sz="2800" b="1" spc="50" dirty="0">
              <a:ln w="0"/>
              <a:effectLst>
                <a:innerShdw blurRad="63500" dist="50800" dir="13500000">
                  <a:srgbClr val="000000">
                    <a:alpha val="50000"/>
                  </a:srgbClr>
                </a:innerShdw>
              </a:effectLst>
            </a:endParaRPr>
          </a:p>
          <a:p>
            <a:pPr algn="just"/>
            <a:endParaRPr lang="es-EC" sz="2800" b="1" spc="50" dirty="0">
              <a:ln w="0"/>
              <a:effectLst>
                <a:innerShdw blurRad="63500" dist="50800" dir="13500000">
                  <a:srgbClr val="000000">
                    <a:alpha val="50000"/>
                  </a:srgbClr>
                </a:innerShdw>
              </a:effectLst>
            </a:endParaRPr>
          </a:p>
          <a:p>
            <a:pPr algn="just"/>
            <a:r>
              <a:rPr lang="es-EC" sz="2800" b="1" spc="50" dirty="0">
                <a:ln w="0"/>
                <a:effectLst>
                  <a:innerShdw blurRad="63500" dist="50800" dir="13500000">
                    <a:srgbClr val="000000">
                      <a:alpha val="50000"/>
                    </a:srgbClr>
                  </a:innerShdw>
                </a:effectLst>
              </a:rPr>
              <a:t>Realizar correcta Segmentación y Seguimiento al Destino, para todas la operaciones de crédito.</a:t>
            </a:r>
          </a:p>
          <a:p>
            <a:pPr algn="just"/>
            <a:endParaRPr lang="es-EC" sz="2800" b="1" spc="50" dirty="0">
              <a:ln w="0"/>
              <a:effectLst>
                <a:innerShdw blurRad="63500" dist="50800" dir="13500000">
                  <a:srgbClr val="000000">
                    <a:alpha val="50000"/>
                  </a:srgbClr>
                </a:innerShdw>
              </a:effectLst>
            </a:endParaRPr>
          </a:p>
          <a:p>
            <a:pPr algn="just"/>
            <a:endParaRPr lang="es-EC" sz="2400" b="1" spc="50" dirty="0">
              <a:ln w="0"/>
              <a:effectLst>
                <a:innerShdw blurRad="63500" dist="50800" dir="13500000">
                  <a:srgbClr val="000000">
                    <a:alpha val="50000"/>
                  </a:srgbClr>
                </a:innerShdw>
              </a:effectLst>
            </a:endParaRPr>
          </a:p>
        </p:txBody>
      </p:sp>
      <p:sp>
        <p:nvSpPr>
          <p:cNvPr id="3" name="CuadroTexto 2">
            <a:extLst>
              <a:ext uri="{FF2B5EF4-FFF2-40B4-BE49-F238E27FC236}">
                <a16:creationId xmlns:a16="http://schemas.microsoft.com/office/drawing/2014/main" id="{9614B0D9-9780-969A-D940-460F4FDFAF90}"/>
              </a:ext>
            </a:extLst>
          </p:cNvPr>
          <p:cNvSpPr txBox="1"/>
          <p:nvPr/>
        </p:nvSpPr>
        <p:spPr>
          <a:xfrm>
            <a:off x="6278774" y="4960744"/>
            <a:ext cx="2525843" cy="369332"/>
          </a:xfrm>
          <a:prstGeom prst="rect">
            <a:avLst/>
          </a:prstGeom>
          <a:noFill/>
        </p:spPr>
        <p:txBody>
          <a:bodyPr wrap="square" rtlCol="0">
            <a:spAutoFit/>
          </a:bodyPr>
          <a:lstStyle/>
          <a:p>
            <a:r>
              <a:rPr lang="es-EC" dirty="0"/>
              <a:t>IF-CPMV-AI-</a:t>
            </a:r>
            <a:r>
              <a:rPr lang="es-EC" dirty="0" err="1"/>
              <a:t>N°</a:t>
            </a:r>
            <a:r>
              <a:rPr lang="es-EC" dirty="0"/>
              <a:t> 107-2026</a:t>
            </a:r>
          </a:p>
        </p:txBody>
      </p:sp>
    </p:spTree>
    <p:extLst>
      <p:ext uri="{BB962C8B-B14F-4D97-AF65-F5344CB8AC3E}">
        <p14:creationId xmlns:p14="http://schemas.microsoft.com/office/powerpoint/2010/main" val="1911440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7B1A38A-8477-4022-F98D-D955033E641E}"/>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FA8DACD3-3E3B-D60C-1464-46E7C55F7AD5}"/>
              </a:ext>
            </a:extLst>
          </p:cNvPr>
          <p:cNvSpPr txBox="1"/>
          <p:nvPr/>
        </p:nvSpPr>
        <p:spPr>
          <a:xfrm>
            <a:off x="6204776" y="5354237"/>
            <a:ext cx="2158936" cy="276999"/>
          </a:xfrm>
          <a:prstGeom prst="rect">
            <a:avLst/>
          </a:prstGeom>
          <a:noFill/>
        </p:spPr>
        <p:txBody>
          <a:bodyPr wrap="square" rtlCol="0">
            <a:spAutoFit/>
          </a:bodyPr>
          <a:lstStyle/>
          <a:p>
            <a:r>
              <a:rPr lang="es-EC" sz="1200" dirty="0">
                <a:solidFill>
                  <a:schemeClr val="accent1">
                    <a:lumMod val="75000"/>
                  </a:schemeClr>
                </a:solidFill>
                <a:latin typeface="Aptos Narrow" panose="020B0004020202020204" pitchFamily="34" charset="0"/>
              </a:rPr>
              <a:t>Departamento de Negocios </a:t>
            </a:r>
          </a:p>
        </p:txBody>
      </p:sp>
      <p:sp>
        <p:nvSpPr>
          <p:cNvPr id="2" name="CuadroTexto 1">
            <a:extLst>
              <a:ext uri="{FF2B5EF4-FFF2-40B4-BE49-F238E27FC236}">
                <a16:creationId xmlns:a16="http://schemas.microsoft.com/office/drawing/2014/main" id="{A6B698EB-1EA0-2BC1-DBC7-339D2BF1005A}"/>
              </a:ext>
            </a:extLst>
          </p:cNvPr>
          <p:cNvSpPr txBox="1"/>
          <p:nvPr/>
        </p:nvSpPr>
        <p:spPr>
          <a:xfrm>
            <a:off x="339383" y="491367"/>
            <a:ext cx="7641861" cy="5139869"/>
          </a:xfrm>
          <a:prstGeom prst="rect">
            <a:avLst/>
          </a:prstGeom>
          <a:noFill/>
        </p:spPr>
        <p:txBody>
          <a:bodyPr wrap="square">
            <a:spAutoFit/>
          </a:bodyPr>
          <a:lstStyle/>
          <a:p>
            <a:pPr algn="just"/>
            <a:endParaRPr lang="es-EC" sz="2800" b="1" spc="50" dirty="0">
              <a:ln w="0"/>
              <a:effectLst>
                <a:innerShdw blurRad="63500" dist="50800" dir="13500000">
                  <a:srgbClr val="000000">
                    <a:alpha val="50000"/>
                  </a:srgbClr>
                </a:innerShdw>
              </a:effectLst>
            </a:endParaRPr>
          </a:p>
          <a:p>
            <a:pPr algn="just"/>
            <a:r>
              <a:rPr lang="es-EC" sz="2800" b="1" spc="50" dirty="0">
                <a:ln w="0"/>
                <a:effectLst>
                  <a:innerShdw blurRad="63500" dist="50800" dir="13500000">
                    <a:srgbClr val="000000">
                      <a:alpha val="50000"/>
                    </a:srgbClr>
                  </a:innerShdw>
                </a:effectLst>
              </a:rPr>
              <a:t>Todas las operaciones de crédito, deben contar con la cobertura al 100% del Seguro de Desgravamen, de acuerdo a la edad del solicitante.</a:t>
            </a:r>
          </a:p>
          <a:p>
            <a:pPr algn="just"/>
            <a:endParaRPr lang="es-EC" sz="2800" b="1" spc="50" dirty="0">
              <a:ln w="0"/>
              <a:effectLst>
                <a:innerShdw blurRad="63500" dist="50800" dir="13500000">
                  <a:srgbClr val="000000">
                    <a:alpha val="50000"/>
                  </a:srgbClr>
                </a:innerShdw>
              </a:effectLst>
            </a:endParaRPr>
          </a:p>
          <a:p>
            <a:pPr algn="just"/>
            <a:r>
              <a:rPr lang="es-EC" sz="2800" b="1" spc="50" dirty="0">
                <a:ln w="0"/>
                <a:effectLst>
                  <a:innerShdw blurRad="63500" dist="50800" dir="13500000">
                    <a:srgbClr val="000000">
                      <a:alpha val="50000"/>
                    </a:srgbClr>
                  </a:innerShdw>
                </a:effectLst>
              </a:rPr>
              <a:t>Todas las Gestión de Cobranza deberán estar ingresadas en el Core Financiero, tanto de llamadas telefónicas, como de las visitas realizadas.</a:t>
            </a:r>
          </a:p>
          <a:p>
            <a:pPr algn="just"/>
            <a:endParaRPr lang="es-EC" sz="2400" b="1" spc="50" dirty="0">
              <a:ln w="0"/>
              <a:effectLst>
                <a:innerShdw blurRad="63500" dist="50800" dir="13500000">
                  <a:srgbClr val="000000">
                    <a:alpha val="50000"/>
                  </a:srgbClr>
                </a:innerShdw>
              </a:effectLst>
            </a:endParaRPr>
          </a:p>
          <a:p>
            <a:pPr algn="just"/>
            <a:endParaRPr lang="es-EC" sz="2400" b="1" spc="50" dirty="0">
              <a:ln w="0"/>
              <a:effectLst>
                <a:innerShdw blurRad="63500" dist="50800" dir="13500000">
                  <a:srgbClr val="000000">
                    <a:alpha val="50000"/>
                  </a:srgbClr>
                </a:innerShdw>
              </a:effectLst>
            </a:endParaRPr>
          </a:p>
        </p:txBody>
      </p:sp>
      <p:sp>
        <p:nvSpPr>
          <p:cNvPr id="3" name="CuadroTexto 2">
            <a:extLst>
              <a:ext uri="{FF2B5EF4-FFF2-40B4-BE49-F238E27FC236}">
                <a16:creationId xmlns:a16="http://schemas.microsoft.com/office/drawing/2014/main" id="{D48D0D97-8A33-6EDB-CCAA-F7F7F1F70E27}"/>
              </a:ext>
            </a:extLst>
          </p:cNvPr>
          <p:cNvSpPr txBox="1"/>
          <p:nvPr/>
        </p:nvSpPr>
        <p:spPr>
          <a:xfrm>
            <a:off x="6278774" y="4960744"/>
            <a:ext cx="2525843" cy="369332"/>
          </a:xfrm>
          <a:prstGeom prst="rect">
            <a:avLst/>
          </a:prstGeom>
          <a:noFill/>
        </p:spPr>
        <p:txBody>
          <a:bodyPr wrap="square" rtlCol="0">
            <a:spAutoFit/>
          </a:bodyPr>
          <a:lstStyle/>
          <a:p>
            <a:r>
              <a:rPr lang="es-EC" dirty="0"/>
              <a:t>IF-CPMV-AI-</a:t>
            </a:r>
            <a:r>
              <a:rPr lang="es-EC" dirty="0" err="1"/>
              <a:t>N°</a:t>
            </a:r>
            <a:r>
              <a:rPr lang="es-EC" dirty="0"/>
              <a:t> 107-2026</a:t>
            </a:r>
          </a:p>
        </p:txBody>
      </p:sp>
    </p:spTree>
    <p:extLst>
      <p:ext uri="{BB962C8B-B14F-4D97-AF65-F5344CB8AC3E}">
        <p14:creationId xmlns:p14="http://schemas.microsoft.com/office/powerpoint/2010/main" val="1745018575"/>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3581</TotalTime>
  <Words>394</Words>
  <Application>Microsoft Office PowerPoint</Application>
  <PresentationFormat>Presentación en pantalla (16:10)</PresentationFormat>
  <Paragraphs>29</Paragraphs>
  <Slides>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vt:i4>
      </vt:variant>
    </vt:vector>
  </HeadingPairs>
  <TitlesOfParts>
    <vt:vector size="11" baseType="lpstr">
      <vt:lpstr>Aptos Narrow</vt: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CPMV</dc:creator>
  <cp:lastModifiedBy>Ignacio  Huera</cp:lastModifiedBy>
  <cp:revision>67</cp:revision>
  <cp:lastPrinted>2020-10-05T20:59:09Z</cp:lastPrinted>
  <dcterms:created xsi:type="dcterms:W3CDTF">2020-10-02T15:25:48Z</dcterms:created>
  <dcterms:modified xsi:type="dcterms:W3CDTF">2026-07-29T15:48:10Z</dcterms:modified>
</cp:coreProperties>
</file>